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4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114800"/>
            <a:ext cx="12191695" cy="31750"/>
          </a:xfrm>
          <a:prstGeom prst="rect">
            <a:avLst/>
          </a:prstGeom>
          <a:solidFill>
            <a:srgbClr val="087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35B9B0"/>
                </a:solidFill>
                <a:latin typeface="Segoe UI"/>
              </a:rPr>
              <a:t>EPILEPSY DIGITAL TWIN  ·  CLINICAL DECISION SUPPORT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1463039"/>
            <a:ext cx="822960" cy="822960"/>
          </a:xfrm>
          <a:prstGeom prst="ellipse">
            <a:avLst/>
          </a:prstGeom>
          <a:solidFill>
            <a:srgbClr val="087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39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Segoe UI"/>
              </a:rPr>
              <a:t>PA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1463040"/>
            <a:ext cx="9144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Segoe UI"/>
              </a:rPr>
              <a:t>Prime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461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35B9B0"/>
                </a:solidFill>
                <a:latin typeface="Segoe UI"/>
              </a:rPr>
              <a:t>Patient Digital Twin Report Generator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43484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C7D4DD"/>
                </a:solidFill>
                <a:latin typeface="Segoe UI"/>
              </a:rPr>
              <a:t>Raw multi-modal patient data, transformed into one validated,</a:t>
            </a:r>
          </a:p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C7D4DD"/>
                </a:solidFill>
                <a:latin typeface="Segoe UI"/>
              </a:rPr>
              <a:t>doctor-ready clinical report — every value traceable, nothing invented.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2636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6B7A"/>
                </a:solidFill>
                <a:latin typeface="Segoe UI"/>
              </a:rPr>
              <a:t>Project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2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1750"/>
          </a:xfrm>
          <a:prstGeom prst="rect">
            <a:avLst/>
          </a:prstGeom>
          <a:solidFill>
            <a:srgbClr val="087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35B9B0"/>
                </a:solidFill>
                <a:latin typeface="Segoe UI"/>
              </a:rPr>
              <a:t>WHY THIS EXISTS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Segoe UI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288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B7A"/>
                </a:solidFill>
                <a:latin typeface="Segoe UI"/>
              </a:rPr>
              <a:t>02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2881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5B6B7A"/>
                </a:solidFill>
                <a:latin typeface="Segoe UI"/>
              </a:rPr>
              <a:t>PRIME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10881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600"/>
              </a:spcAft>
            </a:pPr>
            <a:r>
              <a:rPr sz="1750" b="1">
                <a:solidFill>
                  <a:srgbClr val="087C83"/>
                </a:solidFill>
                <a:latin typeface="Segoe UI"/>
              </a:rPr>
              <a:t>—  </a:t>
            </a:r>
            <a:r>
              <a:rPr b="1" sz="1950">
                <a:solidFill>
                  <a:srgbClr val="1F2933"/>
                </a:solidFill>
                <a:latin typeface="Segoe UI"/>
              </a:rPr>
              <a:t>Fragmented records</a:t>
            </a:r>
            <a:r>
              <a:rPr sz="1950">
                <a:solidFill>
                  <a:srgbClr val="1F2933"/>
                </a:solidFill>
                <a:latin typeface="Segoe UI"/>
              </a:rPr>
              <a:t>  clinical notes, labs, imaging, EEG/ECG signals, and genomics arrive in 8 different formats with no shared structure</a:t>
            </a:r>
          </a:p>
          <a:p>
            <a:pPr>
              <a:lnSpc>
                <a:spcPct val="115000"/>
              </a:lnSpc>
              <a:spcAft>
                <a:spcPts val="2600"/>
              </a:spcAft>
            </a:pPr>
            <a:r>
              <a:rPr sz="1750" b="1">
                <a:solidFill>
                  <a:srgbClr val="087C83"/>
                </a:solidFill>
                <a:latin typeface="Segoe UI"/>
              </a:rPr>
              <a:t>—  </a:t>
            </a:r>
            <a:r>
              <a:rPr b="1" sz="1950">
                <a:solidFill>
                  <a:srgbClr val="1F2933"/>
                </a:solidFill>
                <a:latin typeface="Segoe UI"/>
              </a:rPr>
              <a:t>Manual review doesn't scale</a:t>
            </a:r>
            <a:r>
              <a:rPr sz="1950">
                <a:solidFill>
                  <a:srgbClr val="1F2933"/>
                </a:solidFill>
                <a:latin typeface="Segoe UI"/>
              </a:rPr>
              <a:t>  reading all of it per patient is slow, and summarizing by hand risks missing or misstating a finding</a:t>
            </a:r>
          </a:p>
          <a:p>
            <a:pPr>
              <a:lnSpc>
                <a:spcPct val="115000"/>
              </a:lnSpc>
              <a:spcAft>
                <a:spcPts val="2600"/>
              </a:spcAft>
            </a:pPr>
            <a:r>
              <a:rPr sz="1750" b="1">
                <a:solidFill>
                  <a:srgbClr val="087C83"/>
                </a:solidFill>
                <a:latin typeface="Segoe UI"/>
              </a:rPr>
              <a:t>—  </a:t>
            </a:r>
            <a:r>
              <a:rPr b="1" sz="1950">
                <a:solidFill>
                  <a:srgbClr val="1F2933"/>
                </a:solidFill>
                <a:latin typeface="Segoe UI"/>
              </a:rPr>
              <a:t>One report needed, not eight</a:t>
            </a:r>
            <a:r>
              <a:rPr sz="1950">
                <a:solidFill>
                  <a:srgbClr val="1F2933"/>
                </a:solidFill>
                <a:latin typeface="Segoe UI"/>
              </a:rPr>
              <a:t>  clinicians need a single, trustworthy view of the patient, not raw files to reconcile themselves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2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1750"/>
          </a:xfrm>
          <a:prstGeom prst="rect">
            <a:avLst/>
          </a:prstGeom>
          <a:solidFill>
            <a:srgbClr val="087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35B9B0"/>
                </a:solidFill>
                <a:latin typeface="Segoe UI"/>
              </a:rPr>
              <a:t>OUR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Segoe UI"/>
              </a:rPr>
              <a:t>The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288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B7A"/>
                </a:solidFill>
                <a:latin typeface="Segoe UI"/>
              </a:rPr>
              <a:t>03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2881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5B6B7A"/>
                </a:solidFill>
                <a:latin typeface="Segoe UI"/>
              </a:rPr>
              <a:t>PRIME AGENT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74519"/>
            <a:ext cx="2514600" cy="3063240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 w="12700">
            <a:solidFill>
              <a:srgbClr val="DC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508760" y="2171699"/>
            <a:ext cx="777240" cy="777240"/>
          </a:xfrm>
          <a:prstGeom prst="ellipse">
            <a:avLst/>
          </a:prstGeom>
          <a:solidFill>
            <a:srgbClr val="102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171699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35B9B0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19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0243C"/>
                </a:solidFill>
                <a:latin typeface="Segoe UI"/>
              </a:rPr>
              <a:t>Extract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49038"/>
            <a:ext cx="2057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0" i="0">
                <a:solidFill>
                  <a:srgbClr val="1F2933"/>
                </a:solidFill>
                <a:latin typeface="Segoe UI"/>
              </a:rPr>
              <a:t>Pull only values explicitly present in the source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174680" y="3287267"/>
            <a:ext cx="274320" cy="237744"/>
          </a:xfrm>
          <a:prstGeom prst="rightArrow">
            <a:avLst/>
          </a:prstGeom>
          <a:solidFill>
            <a:srgbClr val="5B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10712" y="1874519"/>
            <a:ext cx="2514600" cy="3063240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 w="12700">
            <a:solidFill>
              <a:srgbClr val="DC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279392" y="2171699"/>
            <a:ext cx="777240" cy="777240"/>
          </a:xfrm>
          <a:prstGeom prst="ellipse">
            <a:avLst/>
          </a:prstGeom>
          <a:solidFill>
            <a:srgbClr val="102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79392" y="2171699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35B9B0"/>
                </a:solidFill>
                <a:latin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93592" y="3246119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0243C"/>
                </a:solidFill>
                <a:latin typeface="Segoe UI"/>
              </a:rPr>
              <a:t>Validate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9312" y="3749038"/>
            <a:ext cx="2057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0" i="0">
                <a:solidFill>
                  <a:srgbClr val="1F2933"/>
                </a:solidFill>
                <a:latin typeface="Segoe UI"/>
              </a:rPr>
              <a:t>Check every value against a strict clinical schema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945312" y="3287267"/>
            <a:ext cx="274320" cy="237744"/>
          </a:xfrm>
          <a:prstGeom prst="rightArrow">
            <a:avLst/>
          </a:prstGeom>
          <a:solidFill>
            <a:srgbClr val="5B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81344" y="1874519"/>
            <a:ext cx="2514600" cy="3063240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 w="12700">
            <a:solidFill>
              <a:srgbClr val="DC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050024" y="2171699"/>
            <a:ext cx="777240" cy="777240"/>
          </a:xfrm>
          <a:prstGeom prst="ellipse">
            <a:avLst/>
          </a:prstGeom>
          <a:solidFill>
            <a:srgbClr val="102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50024" y="2171699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35B9B0"/>
                </a:solidFill>
                <a:latin typeface="Segoe U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4224" y="3246119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0243C"/>
                </a:solidFill>
                <a:latin typeface="Segoe UI"/>
              </a:rPr>
              <a:t>Consolidate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9944" y="3749038"/>
            <a:ext cx="2057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0" i="0">
                <a:solidFill>
                  <a:srgbClr val="1F2933"/>
                </a:solidFill>
                <a:latin typeface="Segoe UI"/>
              </a:rPr>
              <a:t>Merge all categories into one Digital Twin record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8715944" y="3287267"/>
            <a:ext cx="274320" cy="237744"/>
          </a:xfrm>
          <a:prstGeom prst="rightArrow">
            <a:avLst/>
          </a:prstGeom>
          <a:solidFill>
            <a:srgbClr val="5B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951976" y="1874519"/>
            <a:ext cx="2514600" cy="3063240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 w="12700">
            <a:solidFill>
              <a:srgbClr val="DC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20656" y="2171699"/>
            <a:ext cx="777240" cy="777240"/>
          </a:xfrm>
          <a:prstGeom prst="ellipse">
            <a:avLst/>
          </a:prstGeom>
          <a:solidFill>
            <a:srgbClr val="102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20656" y="2171699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35B9B0"/>
                </a:solidFill>
                <a:latin typeface="Segoe U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34856" y="3246119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0243C"/>
                </a:solidFill>
                <a:latin typeface="Segoe UI"/>
              </a:rPr>
              <a:t>Present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0576" y="3749038"/>
            <a:ext cx="2057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0" i="0">
                <a:solidFill>
                  <a:srgbClr val="1F2933"/>
                </a:solidFill>
                <a:latin typeface="Segoe UI"/>
              </a:rPr>
              <a:t>Render a clean, doctor-facing clinical PDF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25780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1">
                <a:solidFill>
                  <a:srgbClr val="087C83"/>
                </a:solidFill>
                <a:latin typeface="Segoe UI"/>
              </a:rPr>
              <a:t>Everything else stays blank — never guessed, never filled 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2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1750"/>
          </a:xfrm>
          <a:prstGeom prst="rect">
            <a:avLst/>
          </a:prstGeom>
          <a:solidFill>
            <a:srgbClr val="087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35B9B0"/>
                </a:solidFill>
                <a:latin typeface="Segoe UI"/>
              </a:rPr>
              <a:t>SYSTEM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Segoe UI"/>
              </a:rPr>
              <a:t>Architecture — End-to-End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288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B7A"/>
                </a:solidFill>
                <a:latin typeface="Segoe UI"/>
              </a:rPr>
              <a:t>04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2881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5B6B7A"/>
                </a:solidFill>
                <a:latin typeface="Segoe UI"/>
              </a:rPr>
              <a:t>PRIME AGENT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91640"/>
            <a:ext cx="2542032" cy="1783080"/>
          </a:xfrm>
          <a:prstGeom prst="roundRect">
            <a:avLst>
              <a:gd name="adj" fmla="val 10000"/>
            </a:avLst>
          </a:prstGeom>
          <a:solidFill>
            <a:srgbClr val="102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22376" y="1847088"/>
            <a:ext cx="457200" cy="457200"/>
          </a:xfrm>
          <a:prstGeom prst="ellipse">
            <a:avLst/>
          </a:prstGeom>
          <a:solidFill>
            <a:srgbClr val="087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" y="184708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423160"/>
            <a:ext cx="21762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Segoe UI"/>
              </a:rPr>
              <a:t>Patient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926080"/>
            <a:ext cx="21762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C7D4DD"/>
                </a:solidFill>
                <a:latin typeface="Segoe UI"/>
              </a:rPr>
              <a:t>PDFs, imaging,</a:t>
            </a:r>
          </a:p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C7D4DD"/>
                </a:solidFill>
                <a:latin typeface="Segoe UI"/>
              </a:rPr>
              <a:t>signals, genomics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123960" y="2482596"/>
            <a:ext cx="182880" cy="201168"/>
          </a:xfrm>
          <a:prstGeom prst="rightArrow">
            <a:avLst/>
          </a:prstGeom>
          <a:solidFill>
            <a:srgbClr val="5B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28416" y="1691640"/>
            <a:ext cx="2542032" cy="1783080"/>
          </a:xfrm>
          <a:prstGeom prst="roundRect">
            <a:avLst>
              <a:gd name="adj" fmla="val 10000"/>
            </a:avLst>
          </a:prstGeom>
          <a:solidFill>
            <a:srgbClr val="1F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483864" y="1847088"/>
            <a:ext cx="457200" cy="457200"/>
          </a:xfrm>
          <a:prstGeom prst="ellipse">
            <a:avLst/>
          </a:prstGeom>
          <a:solidFill>
            <a:srgbClr val="087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83864" y="184708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11296" y="2423160"/>
            <a:ext cx="21762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Segoe UI"/>
              </a:rPr>
              <a:t>Extraction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11296" y="2926080"/>
            <a:ext cx="21762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C7D4DD"/>
                </a:solidFill>
                <a:latin typeface="Segoe UI"/>
              </a:rPr>
              <a:t>Pulls only stated</a:t>
            </a:r>
          </a:p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C7D4DD"/>
                </a:solidFill>
                <a:latin typeface="Segoe UI"/>
              </a:rPr>
              <a:t>values per file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885448" y="2482596"/>
            <a:ext cx="182880" cy="201168"/>
          </a:xfrm>
          <a:prstGeom prst="rightArrow">
            <a:avLst/>
          </a:prstGeom>
          <a:solidFill>
            <a:srgbClr val="5B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089904" y="1691640"/>
            <a:ext cx="2542032" cy="1783080"/>
          </a:xfrm>
          <a:prstGeom prst="roundRect">
            <a:avLst>
              <a:gd name="adj" fmla="val 10000"/>
            </a:avLst>
          </a:prstGeom>
          <a:solidFill>
            <a:srgbClr val="1F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45352" y="1847088"/>
            <a:ext cx="457200" cy="457200"/>
          </a:xfrm>
          <a:prstGeom prst="ellipse">
            <a:avLst/>
          </a:prstGeom>
          <a:solidFill>
            <a:srgbClr val="087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184708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2784" y="2423160"/>
            <a:ext cx="21762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Segoe UI"/>
              </a:rPr>
              <a:t>Validation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2784" y="2926080"/>
            <a:ext cx="21762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C7D4DD"/>
                </a:solidFill>
                <a:latin typeface="Segoe UI"/>
              </a:rPr>
              <a:t>Checked against</a:t>
            </a:r>
          </a:p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C7D4DD"/>
                </a:solidFill>
                <a:latin typeface="Segoe UI"/>
              </a:rPr>
              <a:t>JSON Schema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8646936" y="2482596"/>
            <a:ext cx="182880" cy="201168"/>
          </a:xfrm>
          <a:prstGeom prst="rightArrow">
            <a:avLst/>
          </a:prstGeom>
          <a:solidFill>
            <a:srgbClr val="5B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851392" y="1691640"/>
            <a:ext cx="2542032" cy="1783080"/>
          </a:xfrm>
          <a:prstGeom prst="roundRect">
            <a:avLst>
              <a:gd name="adj" fmla="val 10000"/>
            </a:avLst>
          </a:prstGeom>
          <a:solidFill>
            <a:srgbClr val="102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006840" y="1847088"/>
            <a:ext cx="457200" cy="457200"/>
          </a:xfrm>
          <a:prstGeom prst="ellipse">
            <a:avLst/>
          </a:prstGeom>
          <a:solidFill>
            <a:srgbClr val="087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06840" y="184708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34272" y="2423160"/>
            <a:ext cx="21762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Segoe UI"/>
              </a:rPr>
              <a:t>Category</a:t>
            </a:r>
          </a:p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Segoe UI"/>
              </a:rPr>
              <a:t>Generators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34272" y="2926080"/>
            <a:ext cx="21762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C7D4DD"/>
                </a:solidFill>
                <a:latin typeface="Segoe UI"/>
              </a:rPr>
              <a:t>One script per</a:t>
            </a:r>
          </a:p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C7D4DD"/>
                </a:solidFill>
                <a:latin typeface="Segoe UI"/>
              </a:rPr>
              <a:t>data type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3977639"/>
            <a:ext cx="2542032" cy="1783080"/>
          </a:xfrm>
          <a:prstGeom prst="roundRect">
            <a:avLst>
              <a:gd name="adj" fmla="val 10000"/>
            </a:avLst>
          </a:prstGeom>
          <a:solidFill>
            <a:srgbClr val="087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22376" y="4133087"/>
            <a:ext cx="457200" cy="457200"/>
          </a:xfrm>
          <a:prstGeom prst="ellipse">
            <a:avLst/>
          </a:prstGeom>
          <a:solidFill>
            <a:srgbClr val="102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2376" y="413308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35B9B0"/>
                </a:solidFill>
                <a:latin typeface="Segoe U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4709159"/>
            <a:ext cx="21762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Segoe UI"/>
              </a:rPr>
              <a:t>Digital Twin</a:t>
            </a:r>
          </a:p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Segoe UI"/>
              </a:rPr>
              <a:t>JSON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8" y="5212079"/>
            <a:ext cx="21762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E8EEF2"/>
                </a:solidFill>
                <a:latin typeface="Segoe UI"/>
              </a:rPr>
              <a:t>Consolidated</a:t>
            </a:r>
          </a:p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E8EEF2"/>
                </a:solidFill>
                <a:latin typeface="Segoe UI"/>
              </a:rPr>
              <a:t>patient record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3123960" y="4768595"/>
            <a:ext cx="182880" cy="201168"/>
          </a:xfrm>
          <a:prstGeom prst="rightArrow">
            <a:avLst/>
          </a:prstGeom>
          <a:solidFill>
            <a:srgbClr val="B9C4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328416" y="3977639"/>
            <a:ext cx="2542032" cy="1783080"/>
          </a:xfrm>
          <a:prstGeom prst="roundRect">
            <a:avLst>
              <a:gd name="adj" fmla="val 10000"/>
            </a:avLst>
          </a:prstGeom>
          <a:solidFill>
            <a:srgbClr val="087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483864" y="4133087"/>
            <a:ext cx="457200" cy="457200"/>
          </a:xfrm>
          <a:prstGeom prst="ellipse">
            <a:avLst/>
          </a:prstGeom>
          <a:solidFill>
            <a:srgbClr val="102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83864" y="413308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35B9B0"/>
                </a:solidFill>
                <a:latin typeface="Segoe UI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11296" y="4709159"/>
            <a:ext cx="21762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Segoe UI"/>
              </a:rPr>
              <a:t>DDI</a:t>
            </a:r>
          </a:p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Segoe UI"/>
              </a:rPr>
              <a:t>Screening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11296" y="5212079"/>
            <a:ext cx="21762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E8EEF2"/>
                </a:solidFill>
                <a:latin typeface="Segoe UI"/>
              </a:rPr>
              <a:t>Checks the active</a:t>
            </a:r>
          </a:p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E8EEF2"/>
                </a:solidFill>
                <a:latin typeface="Segoe UI"/>
              </a:rPr>
              <a:t>medication regimen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5885448" y="4768595"/>
            <a:ext cx="182880" cy="201168"/>
          </a:xfrm>
          <a:prstGeom prst="rightArrow">
            <a:avLst/>
          </a:prstGeom>
          <a:solidFill>
            <a:srgbClr val="B9C4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089904" y="3977639"/>
            <a:ext cx="2542032" cy="1783080"/>
          </a:xfrm>
          <a:prstGeom prst="roundRect">
            <a:avLst>
              <a:gd name="adj" fmla="val 10000"/>
            </a:avLst>
          </a:prstGeom>
          <a:solidFill>
            <a:srgbClr val="1F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245352" y="4133087"/>
            <a:ext cx="457200" cy="457200"/>
          </a:xfrm>
          <a:prstGeom prst="ellipse">
            <a:avLst/>
          </a:prstGeom>
          <a:solidFill>
            <a:srgbClr val="102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45352" y="413308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35B9B0"/>
                </a:solidFill>
                <a:latin typeface="Segoe UI"/>
              </a:rPr>
              <a:t>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72784" y="4709159"/>
            <a:ext cx="21762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Segoe UI"/>
              </a:rPr>
              <a:t>Verification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72784" y="5212079"/>
            <a:ext cx="21762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E8EEF2"/>
                </a:solidFill>
                <a:latin typeface="Segoe UI"/>
              </a:rPr>
              <a:t>Independent re-check</a:t>
            </a:r>
          </a:p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E8EEF2"/>
                </a:solidFill>
                <a:latin typeface="Segoe UI"/>
              </a:rPr>
              <a:t>before release</a:t>
            </a:r>
          </a:p>
        </p:txBody>
      </p:sp>
      <p:sp>
        <p:nvSpPr>
          <p:cNvPr id="48" name="Right Arrow 47"/>
          <p:cNvSpPr/>
          <p:nvPr/>
        </p:nvSpPr>
        <p:spPr>
          <a:xfrm>
            <a:off x="8646936" y="4768595"/>
            <a:ext cx="182880" cy="201168"/>
          </a:xfrm>
          <a:prstGeom prst="rightArrow">
            <a:avLst/>
          </a:prstGeom>
          <a:solidFill>
            <a:srgbClr val="B9C4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8851392" y="3977639"/>
            <a:ext cx="2542032" cy="1783080"/>
          </a:xfrm>
          <a:prstGeom prst="roundRect">
            <a:avLst>
              <a:gd name="adj" fmla="val 10000"/>
            </a:avLst>
          </a:prstGeom>
          <a:solidFill>
            <a:srgbClr val="24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006840" y="4133087"/>
            <a:ext cx="457200" cy="457200"/>
          </a:xfrm>
          <a:prstGeom prst="ellipse">
            <a:avLst/>
          </a:prstGeom>
          <a:solidFill>
            <a:srgbClr val="102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006840" y="413308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35B9B0"/>
                </a:solidFill>
                <a:latin typeface="Segoe UI"/>
              </a:rPr>
              <a:t>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34272" y="4709159"/>
            <a:ext cx="21762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Segoe UI"/>
              </a:rPr>
              <a:t>Doctor-Facing</a:t>
            </a:r>
          </a:p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Segoe UI"/>
              </a:rPr>
              <a:t>PDF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34272" y="5212079"/>
            <a:ext cx="21762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E8EEF2"/>
                </a:solidFill>
                <a:latin typeface="Segoe UI"/>
              </a:rPr>
              <a:t>14-section clinical</a:t>
            </a:r>
          </a:p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E8EEF2"/>
                </a:solidFill>
                <a:latin typeface="Segoe UI"/>
              </a:rPr>
              <a:t>report</a:t>
            </a:r>
          </a:p>
        </p:txBody>
      </p:sp>
      <p:sp>
        <p:nvSpPr>
          <p:cNvPr id="54" name="Down Arrow 53"/>
          <p:cNvSpPr/>
          <p:nvPr/>
        </p:nvSpPr>
        <p:spPr>
          <a:xfrm>
            <a:off x="10972800" y="3494720"/>
            <a:ext cx="201168" cy="292608"/>
          </a:xfrm>
          <a:prstGeom prst="downArrow">
            <a:avLst/>
          </a:prstGeom>
          <a:solidFill>
            <a:srgbClr val="5B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204704" y="352044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1">
                <a:solidFill>
                  <a:srgbClr val="5B6B7A"/>
                </a:solidFill>
                <a:latin typeface="Segoe UI"/>
              </a:rPr>
              <a:t>continues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6928" y="6080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5B6B7A"/>
                </a:solidFill>
                <a:latin typeface="Segoe UI"/>
              </a:rPr>
              <a:t>Every stage is schema-checked; the next stage never runs on an unverified result.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2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1750"/>
          </a:xfrm>
          <a:prstGeom prst="rect">
            <a:avLst/>
          </a:prstGeom>
          <a:solidFill>
            <a:srgbClr val="087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35B9B0"/>
                </a:solidFill>
                <a:latin typeface="Segoe UI"/>
              </a:rPr>
              <a:t>HOW IT'S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Segoe UI"/>
              </a:rPr>
              <a:t>Four Complementary Paths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288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B7A"/>
                </a:solidFill>
                <a:latin typeface="Segoe UI"/>
              </a:rPr>
              <a:t>05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2881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5B6B7A"/>
                </a:solidFill>
                <a:latin typeface="Segoe UI"/>
              </a:rPr>
              <a:t>PRIME AGENT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1965960" cy="2743200"/>
          </a:xfrm>
          <a:prstGeom prst="roundRect">
            <a:avLst>
              <a:gd name="adj" fmla="val 8000"/>
            </a:avLst>
          </a:prstGeom>
          <a:solidFill>
            <a:srgbClr val="102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48156" y="2048256"/>
            <a:ext cx="566928" cy="566928"/>
          </a:xfrm>
          <a:prstGeom prst="ellipse">
            <a:avLst/>
          </a:prstGeom>
          <a:solidFill>
            <a:srgbClr val="087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48156" y="2048256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Segoe U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88920"/>
            <a:ext cx="1691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Schema-Validated</a:t>
            </a:r>
          </a:p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566160"/>
            <a:ext cx="163677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D8E3EA"/>
                </a:solidFill>
                <a:latin typeface="Segoe UI"/>
              </a:rPr>
              <a:t>Agent-driven,</a:t>
            </a:r>
          </a:p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D8E3EA"/>
                </a:solidFill>
                <a:latin typeface="Segoe UI"/>
              </a:rPr>
              <a:t>fully automated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544600" y="3081528"/>
            <a:ext cx="146304" cy="237744"/>
          </a:xfrm>
          <a:prstGeom prst="rightArrow">
            <a:avLst/>
          </a:prstGeom>
          <a:solidFill>
            <a:srgbClr val="5B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715768" y="1828800"/>
            <a:ext cx="1965960" cy="2743200"/>
          </a:xfrm>
          <a:prstGeom prst="roundRect">
            <a:avLst>
              <a:gd name="adj" fmla="val 8000"/>
            </a:avLst>
          </a:prstGeom>
          <a:solidFill>
            <a:srgbClr val="1F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415284" y="2048256"/>
            <a:ext cx="566928" cy="566928"/>
          </a:xfrm>
          <a:prstGeom prst="ellipse">
            <a:avLst/>
          </a:prstGeom>
          <a:solidFill>
            <a:srgbClr val="102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15284" y="2048256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35B9B0"/>
                </a:solidFill>
                <a:latin typeface="Segoe U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52928" y="2788920"/>
            <a:ext cx="1691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Category</a:t>
            </a:r>
          </a:p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Generators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3566160"/>
            <a:ext cx="163677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D8E3EA"/>
                </a:solidFill>
                <a:latin typeface="Segoe UI"/>
              </a:rPr>
              <a:t>Deep, format-specific</a:t>
            </a:r>
          </a:p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D8E3EA"/>
                </a:solidFill>
                <a:latin typeface="Segoe UI"/>
              </a:rPr>
              <a:t>extraction per type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711728" y="3081528"/>
            <a:ext cx="146304" cy="237744"/>
          </a:xfrm>
          <a:prstGeom prst="rightArrow">
            <a:avLst/>
          </a:prstGeom>
          <a:solidFill>
            <a:srgbClr val="5B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882896" y="1828800"/>
            <a:ext cx="1965960" cy="2743200"/>
          </a:xfrm>
          <a:prstGeom prst="roundRect">
            <a:avLst>
              <a:gd name="adj" fmla="val 8000"/>
            </a:avLst>
          </a:prstGeom>
          <a:solidFill>
            <a:srgbClr val="087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582412" y="2048256"/>
            <a:ext cx="566928" cy="566928"/>
          </a:xfrm>
          <a:prstGeom prst="ellipse">
            <a:avLst/>
          </a:prstGeom>
          <a:solidFill>
            <a:srgbClr val="102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82412" y="2048256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35B9B0"/>
                </a:solidFill>
                <a:latin typeface="Segoe UI"/>
              </a:rPr>
              <a:t>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0056" y="2788920"/>
            <a:ext cx="1691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Consolidated</a:t>
            </a:r>
          </a:p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Report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47488" y="3566160"/>
            <a:ext cx="163677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D8E3EA"/>
                </a:solidFill>
                <a:latin typeface="Segoe UI"/>
              </a:rPr>
              <a:t>Merges every category</a:t>
            </a:r>
          </a:p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D8E3EA"/>
                </a:solidFill>
                <a:latin typeface="Segoe UI"/>
              </a:rPr>
              <a:t>into one JSON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6878856" y="3081528"/>
            <a:ext cx="146304" cy="237744"/>
          </a:xfrm>
          <a:prstGeom prst="rightArrow">
            <a:avLst/>
          </a:prstGeom>
          <a:solidFill>
            <a:srgbClr val="5B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050024" y="1828800"/>
            <a:ext cx="1965960" cy="2743200"/>
          </a:xfrm>
          <a:prstGeom prst="roundRect">
            <a:avLst>
              <a:gd name="adj" fmla="val 8000"/>
            </a:avLst>
          </a:prstGeom>
          <a:solidFill>
            <a:srgbClr val="087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749540" y="2048256"/>
            <a:ext cx="566928" cy="566928"/>
          </a:xfrm>
          <a:prstGeom prst="ellipse">
            <a:avLst/>
          </a:prstGeom>
          <a:solidFill>
            <a:srgbClr val="102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49540" y="2048256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35B9B0"/>
                </a:solidFill>
                <a:latin typeface="Segoe UI"/>
              </a:rPr>
              <a:t>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87184" y="2788920"/>
            <a:ext cx="1691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DDI</a:t>
            </a:r>
          </a:p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Screening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14616" y="3566160"/>
            <a:ext cx="163677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D8E3EA"/>
                </a:solidFill>
                <a:latin typeface="Segoe UI"/>
              </a:rPr>
              <a:t>Cross-checks the</a:t>
            </a:r>
          </a:p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D8E3EA"/>
                </a:solidFill>
                <a:latin typeface="Segoe UI"/>
              </a:rPr>
              <a:t>active medications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9098280" y="3081528"/>
            <a:ext cx="146304" cy="237744"/>
          </a:xfrm>
          <a:prstGeom prst="rightArrow">
            <a:avLst/>
          </a:prstGeom>
          <a:solidFill>
            <a:srgbClr val="5B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354312" y="2286000"/>
            <a:ext cx="1371600" cy="1828800"/>
          </a:xfrm>
          <a:prstGeom prst="roundRect">
            <a:avLst>
              <a:gd name="adj" fmla="val 10000"/>
            </a:avLst>
          </a:prstGeom>
          <a:solidFill>
            <a:srgbClr val="A865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27464" y="2606040"/>
            <a:ext cx="122529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PDF</a:t>
            </a:r>
          </a:p>
          <a:p>
            <a:pPr algn="ctr">
              <a:lnSpc>
                <a:spcPct val="110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Report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16636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>
                <a:solidFill>
                  <a:srgbClr val="5B6B7A"/>
                </a:solidFill>
                <a:latin typeface="Segoe UI"/>
              </a:rPr>
              <a:t>Paths A and D have automated test coverage. Paths B and C are verified manually against reference reports.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4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60120"/>
            <a:ext cx="12191695" cy="31750"/>
          </a:xfrm>
          <a:prstGeom prst="rect">
            <a:avLst/>
          </a:prstGeom>
          <a:solidFill>
            <a:srgbClr val="087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188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35B9B0"/>
                </a:solidFill>
                <a:latin typeface="Segoe UI"/>
              </a:rPr>
              <a:t>TRUST BY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Segoe UI"/>
              </a:rPr>
              <a:t>Safety &amp;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400"/>
              </a:spcAft>
            </a:pPr>
            <a:r>
              <a:rPr sz="1700" b="1">
                <a:solidFill>
                  <a:srgbClr val="35B9B0"/>
                </a:solidFill>
                <a:latin typeface="Segoe UI"/>
              </a:rPr>
              <a:t>—  </a:t>
            </a:r>
            <a:r>
              <a:rPr b="1" sz="1900">
                <a:solidFill>
                  <a:srgbClr val="E8EEF2"/>
                </a:solidFill>
                <a:latin typeface="Segoe UI"/>
              </a:rPr>
              <a:t>No invented values</a:t>
            </a:r>
            <a:r>
              <a:rPr sz="1900">
                <a:solidFill>
                  <a:srgbClr val="E8EEF2"/>
                </a:solidFill>
                <a:latin typeface="Segoe UI"/>
              </a:rPr>
              <a:t>  a missing field stays blank, it is never guessed or estimated</a:t>
            </a:r>
          </a:p>
          <a:p>
            <a:pPr>
              <a:lnSpc>
                <a:spcPct val="115000"/>
              </a:lnSpc>
              <a:spcAft>
                <a:spcPts val="2400"/>
              </a:spcAft>
            </a:pPr>
            <a:r>
              <a:rPr sz="1700" b="1">
                <a:solidFill>
                  <a:srgbClr val="35B9B0"/>
                </a:solidFill>
                <a:latin typeface="Segoe UI"/>
              </a:rPr>
              <a:t>—  </a:t>
            </a:r>
            <a:r>
              <a:rPr b="1" sz="1900">
                <a:solidFill>
                  <a:srgbClr val="E8EEF2"/>
                </a:solidFill>
                <a:latin typeface="Segoe UI"/>
              </a:rPr>
              <a:t>Two-layer checking</a:t>
            </a:r>
            <a:r>
              <a:rPr sz="1900">
                <a:solidFill>
                  <a:srgbClr val="E8EEF2"/>
                </a:solidFill>
                <a:latin typeface="Segoe UI"/>
              </a:rPr>
              <a:t>  every value is schema-validated, then independently re-verified</a:t>
            </a:r>
          </a:p>
          <a:p>
            <a:pPr>
              <a:lnSpc>
                <a:spcPct val="115000"/>
              </a:lnSpc>
              <a:spcAft>
                <a:spcPts val="2400"/>
              </a:spcAft>
            </a:pPr>
            <a:r>
              <a:rPr sz="1700" b="1">
                <a:solidFill>
                  <a:srgbClr val="35B9B0"/>
                </a:solidFill>
                <a:latin typeface="Segoe UI"/>
              </a:rPr>
              <a:t>—  </a:t>
            </a:r>
            <a:r>
              <a:rPr b="1" sz="1900">
                <a:solidFill>
                  <a:srgbClr val="E8EEF2"/>
                </a:solidFill>
                <a:latin typeface="Segoe UI"/>
              </a:rPr>
              <a:t>Honest uncertainty</a:t>
            </a:r>
            <a:r>
              <a:rPr sz="1900">
                <a:solidFill>
                  <a:srgbClr val="E8EEF2"/>
                </a:solidFill>
                <a:latin typeface="Segoe UI"/>
              </a:rPr>
              <a:t>  unresolved evidence is labeled unresolved, never assumed safe</a:t>
            </a:r>
          </a:p>
          <a:p>
            <a:pPr>
              <a:lnSpc>
                <a:spcPct val="115000"/>
              </a:lnSpc>
              <a:spcAft>
                <a:spcPts val="2400"/>
              </a:spcAft>
            </a:pPr>
            <a:r>
              <a:rPr sz="1700" b="1">
                <a:solidFill>
                  <a:srgbClr val="35B9B0"/>
                </a:solidFill>
                <a:latin typeface="Segoe UI"/>
              </a:rPr>
              <a:t>—  </a:t>
            </a:r>
            <a:r>
              <a:rPr b="1" sz="1900">
                <a:solidFill>
                  <a:srgbClr val="E8EEF2"/>
                </a:solidFill>
                <a:latin typeface="Segoe UI"/>
              </a:rPr>
              <a:t>Enforced in code</a:t>
            </a:r>
            <a:r>
              <a:rPr sz="1900">
                <a:solidFill>
                  <a:srgbClr val="E8EEF2"/>
                </a:solidFill>
                <a:latin typeface="Segoe UI"/>
              </a:rPr>
              <a:t>  checked automatically on every run, not just documented as policy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288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B7A"/>
                </a:solidFill>
                <a:latin typeface="Segoe UI"/>
              </a:rPr>
              <a:t>06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2881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5B6B7A"/>
                </a:solidFill>
                <a:latin typeface="Segoe UI"/>
              </a:rPr>
              <a:t>PRIME AGENT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2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1750"/>
          </a:xfrm>
          <a:prstGeom prst="rect">
            <a:avLst/>
          </a:prstGeom>
          <a:solidFill>
            <a:srgbClr val="087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35B9B0"/>
                </a:solidFill>
                <a:latin typeface="Segoe UI"/>
              </a:rPr>
              <a:t>DRUG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Segoe UI"/>
              </a:rPr>
              <a:t>Drug-Drug Interaction Screening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288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B7A"/>
                </a:solidFill>
                <a:latin typeface="Segoe UI"/>
              </a:rPr>
              <a:t>07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2881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5B6B7A"/>
                </a:solidFill>
                <a:latin typeface="Segoe UI"/>
              </a:rPr>
              <a:t>PRIME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10881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400"/>
              </a:spcAft>
            </a:pPr>
            <a:r>
              <a:rPr sz="1750" b="1">
                <a:solidFill>
                  <a:srgbClr val="087C83"/>
                </a:solidFill>
                <a:latin typeface="Segoe UI"/>
              </a:rPr>
              <a:t>—  </a:t>
            </a:r>
            <a:r>
              <a:rPr b="1" sz="1950">
                <a:solidFill>
                  <a:srgbClr val="1F2933"/>
                </a:solidFill>
                <a:latin typeface="Segoe UI"/>
              </a:rPr>
              <a:t>Reads the patient's actual current medications</a:t>
            </a:r>
            <a:r>
              <a:rPr sz="1950">
                <a:solidFill>
                  <a:srgbClr val="1F2933"/>
                </a:solidFill>
                <a:latin typeface="Segoe UI"/>
              </a:rPr>
              <a:t>  never a hard-coded drug list</a:t>
            </a:r>
          </a:p>
          <a:p>
            <a:pPr>
              <a:lnSpc>
                <a:spcPct val="115000"/>
              </a:lnSpc>
              <a:spcAft>
                <a:spcPts val="2400"/>
              </a:spcAft>
            </a:pPr>
            <a:r>
              <a:rPr sz="1750" b="1">
                <a:solidFill>
                  <a:srgbClr val="087C83"/>
                </a:solidFill>
                <a:latin typeface="Segoe UI"/>
              </a:rPr>
              <a:t>—  </a:t>
            </a:r>
            <a:r>
              <a:rPr sz="1950">
                <a:solidFill>
                  <a:srgbClr val="1F2933"/>
                </a:solidFill>
                <a:latin typeface="Segoe UI"/>
              </a:rPr>
              <a:t>Cross-checks them against genetics, EEG, ECG, and CBC results already on file</a:t>
            </a:r>
          </a:p>
          <a:p>
            <a:pPr>
              <a:lnSpc>
                <a:spcPct val="115000"/>
              </a:lnSpc>
              <a:spcAft>
                <a:spcPts val="2400"/>
              </a:spcAft>
            </a:pPr>
            <a:r>
              <a:rPr sz="1750" b="1">
                <a:solidFill>
                  <a:srgbClr val="087C83"/>
                </a:solidFill>
                <a:latin typeface="Segoe UI"/>
              </a:rPr>
              <a:t>—  </a:t>
            </a:r>
            <a:r>
              <a:rPr sz="1950">
                <a:solidFill>
                  <a:srgbClr val="1F2933"/>
                </a:solidFill>
                <a:latin typeface="Segoe UI"/>
              </a:rPr>
              <a:t>Flags real interactions, conflicting doses, and gaps in available evidence</a:t>
            </a:r>
          </a:p>
          <a:p>
            <a:pPr>
              <a:lnSpc>
                <a:spcPct val="115000"/>
              </a:lnSpc>
              <a:spcAft>
                <a:spcPts val="2400"/>
              </a:spcAft>
            </a:pPr>
            <a:r>
              <a:rPr sz="1750" b="1">
                <a:solidFill>
                  <a:srgbClr val="087C83"/>
                </a:solidFill>
                <a:latin typeface="Segoe UI"/>
              </a:rPr>
              <a:t>—  </a:t>
            </a:r>
            <a:r>
              <a:rPr b="1" sz="1950">
                <a:solidFill>
                  <a:srgbClr val="1F2933"/>
                </a:solidFill>
                <a:latin typeface="Segoe UI"/>
              </a:rPr>
              <a:t>Decision support only</a:t>
            </a:r>
            <a:r>
              <a:rPr sz="1950">
                <a:solidFill>
                  <a:srgbClr val="1F2933"/>
                </a:solidFill>
                <a:latin typeface="Segoe UI"/>
              </a:rPr>
              <a:t>  never recommends a dose, start, or stop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2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1750"/>
          </a:xfrm>
          <a:prstGeom prst="rect">
            <a:avLst/>
          </a:prstGeom>
          <a:solidFill>
            <a:srgbClr val="087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35B9B0"/>
                </a:solidFill>
                <a:latin typeface="Segoe UI"/>
              </a:rPr>
              <a:t>CLINICAL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Segoe UI"/>
              </a:rPr>
              <a:t>Doctor-Facing PDF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288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B7A"/>
                </a:solidFill>
                <a:latin typeface="Segoe UI"/>
              </a:rPr>
              <a:t>08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2881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5B6B7A"/>
                </a:solidFill>
                <a:latin typeface="Segoe UI"/>
              </a:rPr>
              <a:t>PRIME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5760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700"/>
              </a:spcAft>
            </a:pPr>
            <a:r>
              <a:rPr sz="1450" b="1">
                <a:solidFill>
                  <a:srgbClr val="087C83"/>
                </a:solidFill>
                <a:latin typeface="Segoe UI"/>
              </a:rPr>
              <a:t>—  </a:t>
            </a:r>
            <a:r>
              <a:rPr b="1" sz="1650">
                <a:solidFill>
                  <a:srgbClr val="1F2933"/>
                </a:solidFill>
                <a:latin typeface="Segoe UI"/>
              </a:rPr>
              <a:t>14 structured sections</a:t>
            </a:r>
            <a:r>
              <a:rPr sz="1650">
                <a:solidFill>
                  <a:srgbClr val="1F2933"/>
                </a:solidFill>
                <a:latin typeface="Segoe UI"/>
              </a:rPr>
              <a:t>  Patient Snapshot through Clinical Action Plan</a:t>
            </a:r>
          </a:p>
          <a:p>
            <a:pPr>
              <a:lnSpc>
                <a:spcPct val="115000"/>
              </a:lnSpc>
              <a:spcAft>
                <a:spcPts val="1700"/>
              </a:spcAft>
            </a:pPr>
            <a:r>
              <a:rPr sz="1450" b="1">
                <a:solidFill>
                  <a:srgbClr val="087C83"/>
                </a:solidFill>
                <a:latin typeface="Segoe UI"/>
              </a:rPr>
              <a:t>—  </a:t>
            </a:r>
            <a:r>
              <a:rPr sz="1650">
                <a:solidFill>
                  <a:srgbClr val="1F2933"/>
                </a:solidFill>
                <a:latin typeface="Segoe UI"/>
              </a:rPr>
              <a:t>Visual risk dashboards and timelines in place of raw data tables</a:t>
            </a:r>
          </a:p>
          <a:p>
            <a:pPr>
              <a:lnSpc>
                <a:spcPct val="115000"/>
              </a:lnSpc>
              <a:spcAft>
                <a:spcPts val="1700"/>
              </a:spcAft>
            </a:pPr>
            <a:r>
              <a:rPr sz="1450" b="1">
                <a:solidFill>
                  <a:srgbClr val="087C83"/>
                </a:solidFill>
                <a:latin typeface="Segoe UI"/>
              </a:rPr>
              <a:t>—  </a:t>
            </a:r>
            <a:r>
              <a:rPr sz="1650">
                <a:solidFill>
                  <a:srgbClr val="1F2933"/>
                </a:solidFill>
                <a:latin typeface="Segoe UI"/>
              </a:rPr>
              <a:t>Pharmacogenomics shows the most significant finding per drug, with its source citation</a:t>
            </a:r>
          </a:p>
          <a:p>
            <a:pPr>
              <a:lnSpc>
                <a:spcPct val="115000"/>
              </a:lnSpc>
              <a:spcAft>
                <a:spcPts val="1700"/>
              </a:spcAft>
            </a:pPr>
            <a:r>
              <a:rPr sz="1450" b="1">
                <a:solidFill>
                  <a:srgbClr val="087C83"/>
                </a:solidFill>
                <a:latin typeface="Segoe UI"/>
              </a:rPr>
              <a:t>—  </a:t>
            </a:r>
            <a:r>
              <a:rPr b="1" sz="1650">
                <a:solidFill>
                  <a:srgbClr val="1F2933"/>
                </a:solidFill>
                <a:latin typeface="Segoe UI"/>
              </a:rPr>
              <a:t>Every figure traces back to the same validated JSON</a:t>
            </a:r>
            <a:r>
              <a:rPr sz="1650">
                <a:solidFill>
                  <a:srgbClr val="1F2933"/>
                </a:solidFill>
                <a:latin typeface="Segoe UI"/>
              </a:rPr>
              <a:t>  no separate report logic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1600200"/>
            <a:ext cx="4709160" cy="4480560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 w="12700">
            <a:solidFill>
              <a:srgbClr val="DC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0" y="1600200"/>
            <a:ext cx="4709160" cy="73152"/>
          </a:xfrm>
          <a:prstGeom prst="rect">
            <a:avLst/>
          </a:prstGeom>
          <a:solidFill>
            <a:srgbClr val="087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78040" y="1874519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0243C"/>
                </a:solidFill>
                <a:latin typeface="Segoe UI"/>
              </a:rPr>
              <a:t>14 Report Sections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2331720"/>
            <a:ext cx="4023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50"/>
              </a:spcAft>
            </a:pPr>
            <a:r>
              <a:rPr sz="1200">
                <a:solidFill>
                  <a:srgbClr val="1F2933"/>
                </a:solidFill>
                <a:latin typeface="Segoe UI"/>
              </a:rPr>
              <a:t>01   Patient Snapshot</a:t>
            </a:r>
          </a:p>
          <a:p>
            <a:pPr>
              <a:spcAft>
                <a:spcPts val="450"/>
              </a:spcAft>
            </a:pPr>
            <a:r>
              <a:rPr sz="1200">
                <a:solidFill>
                  <a:srgbClr val="1F2933"/>
                </a:solidFill>
                <a:latin typeface="Segoe UI"/>
              </a:rPr>
              <a:t>02   Executive Summary</a:t>
            </a:r>
          </a:p>
          <a:p>
            <a:pPr>
              <a:spcAft>
                <a:spcPts val="450"/>
              </a:spcAft>
            </a:pPr>
            <a:r>
              <a:rPr sz="1200">
                <a:solidFill>
                  <a:srgbClr val="1F2933"/>
                </a:solidFill>
                <a:latin typeface="Segoe UI"/>
              </a:rPr>
              <a:t>03   6-Month Timeline</a:t>
            </a:r>
          </a:p>
          <a:p>
            <a:pPr>
              <a:spcAft>
                <a:spcPts val="450"/>
              </a:spcAft>
            </a:pPr>
            <a:r>
              <a:rPr sz="1200">
                <a:solidFill>
                  <a:srgbClr val="1F2933"/>
                </a:solidFill>
                <a:latin typeface="Segoe UI"/>
              </a:rPr>
              <a:t>04   Seizure Trends</a:t>
            </a:r>
          </a:p>
          <a:p>
            <a:pPr>
              <a:spcAft>
                <a:spcPts val="450"/>
              </a:spcAft>
            </a:pPr>
            <a:r>
              <a:rPr sz="1200">
                <a:solidFill>
                  <a:srgbClr val="1F2933"/>
                </a:solidFill>
                <a:latin typeface="Segoe UI"/>
              </a:rPr>
              <a:t>05   Aura &amp; Triggers</a:t>
            </a:r>
          </a:p>
          <a:p>
            <a:pPr>
              <a:spcAft>
                <a:spcPts val="450"/>
              </a:spcAft>
            </a:pPr>
            <a:r>
              <a:rPr sz="1200">
                <a:solidFill>
                  <a:srgbClr val="1F2933"/>
                </a:solidFill>
                <a:latin typeface="Segoe UI"/>
              </a:rPr>
              <a:t>06   Medication Response</a:t>
            </a:r>
          </a:p>
          <a:p>
            <a:pPr>
              <a:spcAft>
                <a:spcPts val="450"/>
              </a:spcAft>
            </a:pPr>
            <a:r>
              <a:rPr sz="1200">
                <a:solidFill>
                  <a:srgbClr val="1F2933"/>
                </a:solidFill>
                <a:latin typeface="Segoe UI"/>
              </a:rPr>
              <a:t>07   Pharmacogenomics</a:t>
            </a:r>
          </a:p>
          <a:p>
            <a:pPr>
              <a:spcAft>
                <a:spcPts val="450"/>
              </a:spcAft>
            </a:pPr>
            <a:r>
              <a:rPr sz="1200">
                <a:solidFill>
                  <a:srgbClr val="1F2933"/>
                </a:solidFill>
                <a:latin typeface="Segoe UI"/>
              </a:rPr>
              <a:t>08   Drug Interactions</a:t>
            </a:r>
          </a:p>
          <a:p>
            <a:pPr>
              <a:spcAft>
                <a:spcPts val="450"/>
              </a:spcAft>
            </a:pPr>
            <a:r>
              <a:rPr sz="1200">
                <a:solidFill>
                  <a:srgbClr val="1F2933"/>
                </a:solidFill>
                <a:latin typeface="Segoe UI"/>
              </a:rPr>
              <a:t>09   EEG</a:t>
            </a:r>
          </a:p>
          <a:p>
            <a:pPr>
              <a:spcAft>
                <a:spcPts val="450"/>
              </a:spcAft>
            </a:pPr>
            <a:r>
              <a:rPr sz="1200">
                <a:solidFill>
                  <a:srgbClr val="1F2933"/>
                </a:solidFill>
                <a:latin typeface="Segoe UI"/>
              </a:rPr>
              <a:t>10   MRI / CT</a:t>
            </a:r>
          </a:p>
          <a:p>
            <a:pPr>
              <a:spcAft>
                <a:spcPts val="450"/>
              </a:spcAft>
            </a:pPr>
            <a:r>
              <a:rPr sz="1200">
                <a:solidFill>
                  <a:srgbClr val="1F2933"/>
                </a:solidFill>
                <a:latin typeface="Segoe UI"/>
              </a:rPr>
              <a:t>11   ECG</a:t>
            </a:r>
          </a:p>
          <a:p>
            <a:pPr>
              <a:spcAft>
                <a:spcPts val="450"/>
              </a:spcAft>
            </a:pPr>
            <a:r>
              <a:rPr sz="1200">
                <a:solidFill>
                  <a:srgbClr val="1F2933"/>
                </a:solidFill>
                <a:latin typeface="Segoe UI"/>
              </a:rPr>
              <a:t>12   CBC / Labs</a:t>
            </a:r>
          </a:p>
          <a:p>
            <a:pPr>
              <a:spcAft>
                <a:spcPts val="450"/>
              </a:spcAft>
            </a:pPr>
            <a:r>
              <a:rPr sz="1200">
                <a:solidFill>
                  <a:srgbClr val="1F2933"/>
                </a:solidFill>
                <a:latin typeface="Segoe UI"/>
              </a:rPr>
              <a:t>13   Sleep, Cognition &amp; QoL</a:t>
            </a:r>
          </a:p>
          <a:p>
            <a:pPr>
              <a:spcAft>
                <a:spcPts val="450"/>
              </a:spcAft>
            </a:pPr>
            <a:r>
              <a:rPr sz="1200">
                <a:solidFill>
                  <a:srgbClr val="1F2933"/>
                </a:solidFill>
                <a:latin typeface="Segoe UI"/>
              </a:rPr>
              <a:t>14   Risk Dashboard + Action Plan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2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1750"/>
          </a:xfrm>
          <a:prstGeom prst="rect">
            <a:avLst/>
          </a:prstGeom>
          <a:solidFill>
            <a:srgbClr val="087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35B9B0"/>
                </a:solidFill>
                <a:latin typeface="Segoe UI"/>
              </a:rPr>
              <a:t>QUALITY ASSURANCE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Segoe UI"/>
              </a:rPr>
              <a:t>Testing &amp; Confidence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288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B7A"/>
                </a:solidFill>
                <a:latin typeface="Segoe UI"/>
              </a:rPr>
              <a:t>09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2881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5B6B7A"/>
                </a:solidFill>
                <a:latin typeface="Segoe UI"/>
              </a:rPr>
              <a:t>PRIME AGENT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2514600" cy="1417320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 w="12700">
            <a:solidFill>
              <a:srgbClr val="DC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1417320"/>
          </a:xfrm>
          <a:prstGeom prst="rect">
            <a:avLst/>
          </a:prstGeom>
          <a:solidFill>
            <a:srgbClr val="087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56232"/>
            <a:ext cx="2057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0243C"/>
                </a:solidFill>
                <a:latin typeface="Segoe UI"/>
              </a:rPr>
              <a:t>165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06040"/>
            <a:ext cx="2057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B6B7A"/>
                </a:solidFill>
                <a:latin typeface="Segoe UI"/>
              </a:rPr>
              <a:t>automated tests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1691640"/>
            <a:ext cx="2514600" cy="1417320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 w="12700">
            <a:solidFill>
              <a:srgbClr val="DC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9000" y="1691640"/>
            <a:ext cx="73152" cy="1417320"/>
          </a:xfrm>
          <a:prstGeom prst="rect">
            <a:avLst/>
          </a:prstGeom>
          <a:solidFill>
            <a:srgbClr val="087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03320" y="1856232"/>
            <a:ext cx="2057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0243C"/>
                </a:solidFill>
                <a:latin typeface="Segoe UI"/>
              </a:rP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2606040"/>
            <a:ext cx="2057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B6B7A"/>
                </a:solidFill>
                <a:latin typeface="Segoe UI"/>
              </a:rPr>
              <a:t>test files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691640"/>
            <a:ext cx="2514600" cy="1417320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 w="12700">
            <a:solidFill>
              <a:srgbClr val="DC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691640"/>
            <a:ext cx="73152" cy="1417320"/>
          </a:xfrm>
          <a:prstGeom prst="rect">
            <a:avLst/>
          </a:prstGeom>
          <a:solidFill>
            <a:srgbClr val="087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856232"/>
            <a:ext cx="2057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0243C"/>
                </a:solidFill>
                <a:latin typeface="Segoe UI"/>
              </a:rPr>
              <a:t>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606040"/>
            <a:ext cx="2057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B6B7A"/>
                </a:solidFill>
                <a:latin typeface="Segoe UI"/>
              </a:rPr>
              <a:t>PDF report sections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06840" y="1691640"/>
            <a:ext cx="2514600" cy="1417320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 w="12700">
            <a:solidFill>
              <a:srgbClr val="DC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06840" y="1691640"/>
            <a:ext cx="73152" cy="1417320"/>
          </a:xfrm>
          <a:prstGeom prst="rect">
            <a:avLst/>
          </a:prstGeom>
          <a:solidFill>
            <a:srgbClr val="087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81160" y="1856232"/>
            <a:ext cx="2057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0243C"/>
                </a:solidFill>
                <a:latin typeface="Segoe UI"/>
              </a:rP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2606040"/>
            <a:ext cx="2057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B6B7A"/>
                </a:solidFill>
                <a:latin typeface="Segoe UI"/>
              </a:rPr>
              <a:t>invented values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520440"/>
            <a:ext cx="10881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700"/>
              </a:spcAft>
            </a:pPr>
            <a:r>
              <a:rPr sz="1550" b="1">
                <a:solidFill>
                  <a:srgbClr val="087C83"/>
                </a:solidFill>
                <a:latin typeface="Segoe UI"/>
              </a:rPr>
              <a:t>—  </a:t>
            </a:r>
            <a:r>
              <a:rPr sz="1750">
                <a:solidFill>
                  <a:srgbClr val="1F2933"/>
                </a:solidFill>
                <a:latin typeface="Segoe UI"/>
              </a:rPr>
              <a:t>Every category validated against a strict JSON Schema before it is merged</a:t>
            </a:r>
          </a:p>
          <a:p>
            <a:pPr>
              <a:lnSpc>
                <a:spcPct val="115000"/>
              </a:lnSpc>
              <a:spcAft>
                <a:spcPts val="1700"/>
              </a:spcAft>
            </a:pPr>
            <a:r>
              <a:rPr sz="1550" b="1">
                <a:solidFill>
                  <a:srgbClr val="087C83"/>
                </a:solidFill>
                <a:latin typeface="Segoe UI"/>
              </a:rPr>
              <a:t>—  </a:t>
            </a:r>
            <a:r>
              <a:rPr sz="1750">
                <a:solidFill>
                  <a:srgbClr val="1F2933"/>
                </a:solidFill>
                <a:latin typeface="Segoe UI"/>
              </a:rPr>
              <a:t>An independent verification step re-checks traceability before release</a:t>
            </a:r>
          </a:p>
          <a:p>
            <a:pPr>
              <a:lnSpc>
                <a:spcPct val="115000"/>
              </a:lnSpc>
              <a:spcAft>
                <a:spcPts val="1700"/>
              </a:spcAft>
            </a:pPr>
            <a:r>
              <a:rPr sz="1550" b="1">
                <a:solidFill>
                  <a:srgbClr val="087C83"/>
                </a:solidFill>
                <a:latin typeface="Segoe UI"/>
              </a:rPr>
              <a:t>—  </a:t>
            </a:r>
            <a:r>
              <a:rPr sz="1750">
                <a:solidFill>
                  <a:srgbClr val="1F2933"/>
                </a:solidFill>
                <a:latin typeface="Segoe UI"/>
              </a:rPr>
              <a:t>Every generated PDF page is visually reviewed for accuracy before release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2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1750"/>
          </a:xfrm>
          <a:prstGeom prst="rect">
            <a:avLst/>
          </a:prstGeom>
          <a:solidFill>
            <a:srgbClr val="087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35B9B0"/>
                </a:solidFill>
                <a:latin typeface="Segoe UI"/>
              </a:rPr>
              <a:t>THE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Segoe UI"/>
              </a:rPr>
              <a:t>Final Outcome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288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B7A"/>
                </a:solidFill>
                <a:latin typeface="Segoe UI"/>
              </a:rPr>
              <a:t>10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2881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5B6B7A"/>
                </a:solidFill>
                <a:latin typeface="Segoe UI"/>
              </a:rPr>
              <a:t>PRIME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10881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800"/>
              </a:spcAft>
            </a:pPr>
            <a:r>
              <a:rPr sz="1900" b="1">
                <a:solidFill>
                  <a:srgbClr val="087C83"/>
                </a:solidFill>
                <a:latin typeface="Segoe UI"/>
              </a:rPr>
              <a:t>—  </a:t>
            </a:r>
            <a:r>
              <a:rPr sz="2100">
                <a:solidFill>
                  <a:srgbClr val="1F2933"/>
                </a:solidFill>
                <a:latin typeface="Segoe UI"/>
              </a:rPr>
              <a:t>One trusted, doctor-ready report built from eight raw data formats</a:t>
            </a:r>
          </a:p>
          <a:p>
            <a:pPr>
              <a:lnSpc>
                <a:spcPct val="115000"/>
              </a:lnSpc>
              <a:spcAft>
                <a:spcPts val="2800"/>
              </a:spcAft>
            </a:pPr>
            <a:r>
              <a:rPr sz="1900" b="1">
                <a:solidFill>
                  <a:srgbClr val="087C83"/>
                </a:solidFill>
                <a:latin typeface="Segoe UI"/>
              </a:rPr>
              <a:t>—  </a:t>
            </a:r>
            <a:r>
              <a:rPr b="1" sz="2100">
                <a:solidFill>
                  <a:srgbClr val="1F2933"/>
                </a:solidFill>
                <a:latin typeface="Segoe UI"/>
              </a:rPr>
              <a:t>Zero invented values</a:t>
            </a:r>
            <a:r>
              <a:rPr sz="2100">
                <a:solidFill>
                  <a:srgbClr val="1F2933"/>
                </a:solidFill>
                <a:latin typeface="Segoe UI"/>
              </a:rPr>
              <a:t>  every finding is traceable back to its source</a:t>
            </a:r>
          </a:p>
          <a:p>
            <a:pPr>
              <a:lnSpc>
                <a:spcPct val="115000"/>
              </a:lnSpc>
              <a:spcAft>
                <a:spcPts val="2800"/>
              </a:spcAft>
            </a:pPr>
            <a:r>
              <a:rPr sz="1900" b="1">
                <a:solidFill>
                  <a:srgbClr val="087C83"/>
                </a:solidFill>
                <a:latin typeface="Segoe UI"/>
              </a:rPr>
              <a:t>—  </a:t>
            </a:r>
            <a:r>
              <a:rPr b="1" sz="2100">
                <a:solidFill>
                  <a:srgbClr val="1F2933"/>
                </a:solidFill>
                <a:latin typeface="Segoe UI"/>
              </a:rPr>
              <a:t>A tested, extensible foundation</a:t>
            </a:r>
            <a:r>
              <a:rPr sz="2100">
                <a:solidFill>
                  <a:srgbClr val="1F2933"/>
                </a:solidFill>
                <a:latin typeface="Segoe UI"/>
              </a:rPr>
              <a:t>  ready for broader drug-interaction coverage and more categories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4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0"/>
            <a:ext cx="12191695" cy="31750"/>
          </a:xfrm>
          <a:prstGeom prst="rect">
            <a:avLst/>
          </a:prstGeom>
          <a:solidFill>
            <a:srgbClr val="087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69748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FFFFFF"/>
                </a:solidFill>
                <a:latin typeface="Segoe U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7947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35B9B0"/>
                </a:solidFill>
                <a:latin typeface="Segoe UI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